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5" r:id="rId4"/>
  </p:sldMasterIdLst>
  <p:notesMasterIdLst>
    <p:notesMasterId r:id="rId32"/>
  </p:notesMasterIdLst>
  <p:handoutMasterIdLst>
    <p:handoutMasterId r:id="rId33"/>
  </p:handout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23"/>
    <p:sldId id="265" r:id="rId22"/>
  </p:sldIdLst>
  <p:sldSz cx="12192000" cy="6858000"/>
  <p:notesSz cx="7010400" cy="9296400"/>
  <p:embeddedFontLst>
    <p:embeddedFont>
      <p:font typeface="Barlow" pitchFamily="2" charset="77"/>
      <p:regular r:id="rId34"/>
      <p:bold r:id="rId35"/>
      <p:italic r:id="rId36"/>
      <p:boldItalic r:id="rId37"/>
    </p:embeddedFont>
    <p:embeddedFont>
      <p:font typeface="Barlow Medium" pitchFamily="2" charset="77"/>
      <p:regular r:id="rId38"/>
      <p:italic r:id="rId39"/>
    </p:embeddedFont>
    <p:embeddedFont>
      <p:font typeface="Barlow SemiBold" pitchFamily="2" charset="77"/>
      <p:regular r:id="rId40"/>
      <p:bold r:id="rId41"/>
      <p:italic r:id="rId42"/>
      <p:boldItalic r:id="rId43"/>
    </p:embeddedFont>
    <p:embeddedFont>
      <p:font typeface="Wingdings 3" pitchFamily="2" charset="2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DC9343AB-3633-0040-8C20-EE436A4C326C}">
          <p14:sldIdLst>
            <p14:sldId id="2147479815"/>
            <p14:sldId id="2147479816"/>
          </p14:sldIdLst>
        </p14:section>
        <p14:section name="Guideline" id="{C03561D4-B6A8-2F43-ADF4-0F7A07DA2D64}">
          <p14:sldIdLst>
            <p14:sldId id="2147479795"/>
            <p14:sldId id="2147479796"/>
            <p14:sldId id="2147479819"/>
            <p14:sldId id="2147479797"/>
            <p14:sldId id="2147479798"/>
          </p14:sldIdLst>
        </p14:section>
        <p14:section name="Presentation Slides" id="{946C8B3A-61C4-AF40-8103-203EBE56DE26}">
          <p14:sldIdLst>
            <p14:sldId id="2147479799"/>
            <p14:sldId id="2147479800"/>
            <p14:sldId id="2147479817"/>
            <p14:sldId id="2147479801"/>
            <p14:sldId id="2147479802"/>
            <p14:sldId id="2147479803"/>
            <p14:sldId id="2147479818"/>
            <p14:sldId id="2147479804"/>
            <p14:sldId id="2147479805"/>
            <p14:sldId id="2147479806"/>
            <p14:sldId id="2147479807"/>
            <p14:sldId id="2147479808"/>
            <p14:sldId id="2147479809"/>
            <p14:sldId id="2147479810"/>
            <p14:sldId id="2147479811"/>
            <p14:sldId id="2147479820"/>
            <p14:sldId id="2147479812"/>
            <p14:sldId id="2147479813"/>
            <p14:sldId id="2147479654"/>
            <p14:sldId id="21474797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FB64D-9294-73B9-698D-53AC9DE94753}" name="Gildred, Terrence" initials="TG" userId="S::Terrence.Gildred@analog.com::41e59cfa-3130-4dc8-bb17-32cbb5d94a2b" providerId="AD"/>
  <p188:author id="{9F151DE2-766A-42B1-0845-564F1EFC92C8}" name="Corley, Chuck" initials="CC" userId="S::Chuck.Corley@analog.com::9b82cf21-72de-4287-943d-2b8797d81e32" providerId="AD"/>
  <p188:author id="{B32441EB-C32A-3CA3-B2FD-35A7E093F3DD}" name="Shaw, Shelly" initials="SS" userId="S::shelly.shaw@analog.com::fffc5d37-691b-410b-b340-04c3784de4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" initials=" 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F"/>
    <a:srgbClr val="D8D9DF"/>
    <a:srgbClr val="6DE9EC"/>
    <a:srgbClr val="6DE1EC"/>
    <a:srgbClr val="F0F0F2"/>
    <a:srgbClr val="E2E3E6"/>
    <a:srgbClr val="D9D9DE"/>
    <a:srgbClr val="9EA1AE"/>
    <a:srgbClr val="D9E1E4"/>
    <a:srgbClr val="E7ECE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6327" autoAdjust="0"/>
  </p:normalViewPr>
  <p:slideViewPr>
    <p:cSldViewPr snapToGrid="0" snapToObjects="1">
      <p:cViewPr varScale="1">
        <p:scale>
          <a:sx n="139" d="100"/>
          <a:sy n="139" d="100"/>
        </p:scale>
        <p:origin x="1064" y="176"/>
      </p:cViewPr>
      <p:guideLst/>
    </p:cSldViewPr>
  </p:slideViewPr>
  <p:outlineViewPr>
    <p:cViewPr>
      <p:scale>
        <a:sx n="33" d="100"/>
        <a:sy n="33" d="100"/>
      </p:scale>
      <p:origin x="0" y="1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11" d="100"/>
          <a:sy n="111" d="100"/>
        </p:scale>
        <p:origin x="328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font" Target="fonts/font9.fntdata"/><Relationship Id="rId43" Type="http://schemas.openxmlformats.org/officeDocument/2006/relationships/font" Target="fonts/font10.fntdata"/><Relationship Id="rId44" Type="http://schemas.openxmlformats.org/officeDocument/2006/relationships/font" Target="fonts/font11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0.e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597444" y="8829967"/>
            <a:ext cx="411333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200"/>
            </a:lvl1pPr>
          </a:lstStyle>
          <a:p>
            <a:fld id="{013FF889-DBB5-E540-8E75-47BFCA628842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Barlow" pitchFamily="2" charset="77"/>
                <a:cs typeface="Arial" panose="020B0604020202020204" pitchFamily="34" charset="0"/>
              </a:rPr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7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4C274-FC20-274E-ABAE-1B6BD23BAF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C9AD1-494E-6A4E-8F5F-425D5063F09E}" type="datetimeFigureOut">
              <a:rPr lang="en-US" smtClean="0"/>
              <a:t>1/15/26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34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0.e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14897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000" b="0" i="0"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9360" y="8829967"/>
            <a:ext cx="699418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fld id="{900B8651-D313-4300-801F-8365670269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 b="0" i="0">
                <a:latin typeface="Barlow" pitchFamily="2" charset="77"/>
              </a:defRPr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6670" y="108612"/>
            <a:ext cx="952107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r">
              <a:defRPr sz="1200" b="0" i="0">
                <a:latin typeface="Barlow" pitchFamily="2" charset="77"/>
              </a:defRPr>
            </a:lvl1pPr>
          </a:lstStyle>
          <a:p>
            <a:fld id="{2C2AD557-2032-D74A-B281-F0540E660787}" type="datetimeFigureOut">
              <a:rPr lang="en-US" sz="1000" smtClean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pPr/>
              <a:t>1/15/26</a:t>
            </a:fld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3899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buClr>
        <a:schemeClr val="tx2"/>
      </a:buClr>
      <a:buSzPct val="75000"/>
      <a:buFont typeface="Wingdings 3" panose="05040102010807070707" pitchFamily="18" charset="2"/>
      <a:buChar char="u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1pPr>
    <a:lvl2pPr marL="344488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2pPr>
    <a:lvl3pPr marL="5111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3pPr>
    <a:lvl4pPr marL="6889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4pPr>
    <a:lvl5pPr marL="855663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jpg"/><Relationship Id="rId4" Type="http://schemas.openxmlformats.org/officeDocument/2006/relationships/hyperlink" Target="https://www.analog.com/en/index.html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hyperlink" Target="https://www.analog.com/en/index.html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jpg"/><Relationship Id="rId4" Type="http://schemas.openxmlformats.org/officeDocument/2006/relationships/hyperlink" Target="https://www.analog.com/en/index.html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4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45A94-3CF9-DE40-192E-900232841E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A71F52-3503-B96C-9247-6161E2C3DC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3B89A1-CA1A-58B5-ACA8-74366DA0AF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1235363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F5266-55C9-0BE1-E63F-2CD32DA02C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3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34EDB31-305D-ABD5-A5B5-5A901432FC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C40DCC2-6B3F-66D3-DF6F-1CAFC8AB6C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EC33F89-D1AD-97BD-9796-653C4E7471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50467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75A93E-07A2-EBD4-1717-2BC5B458C0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 sz="1600"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 sz="1400"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/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B830200-494D-376F-25FC-62708EAC8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D4A03-9143-BC58-1681-1225AE4D7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7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working in a factory&#10;&#10;Description automatically generated">
            <a:extLst>
              <a:ext uri="{FF2B5EF4-FFF2-40B4-BE49-F238E27FC236}">
                <a16:creationId xmlns:a16="http://schemas.microsoft.com/office/drawing/2014/main" id="{5279C31A-3F31-E41C-E7A3-501624556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980CC74-0812-43C2-2A04-E80B64FF4663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2F3DE54-34B6-3AF3-6CD6-3EEEE3D9CB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238CC0-96D0-F452-54CA-4E0E61680C7C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5E685E6-13CB-D38D-FEA2-77D90875D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4264545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AD60E70-32AD-72EE-B1DB-7DDA206A7E59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99A5004D-7C58-27D4-EB7C-CAEEB8F6A5B8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AB5AFC3-5343-064B-A219-1AE7209A8C04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C18DD37-D9CA-886C-4E16-79E064AA6B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53266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0F7495-C78C-5BD8-12F5-D3FE1407E0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7E58A3-0A5D-732B-0055-E391B11ABC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4293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D0724DB-44AA-8EF1-D24E-EE31252C8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2D86F02-FD9E-9CA8-C43A-A87AC3AFA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941DD9-5289-8381-97D8-48A472D3D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A88B1579-377C-8586-6E52-6B200302C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53026E-B5C4-FD0A-19D4-0B5461FD6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1A507F-49ED-2628-38B9-7F81817B7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 Header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943F822-F879-A359-A0CB-E4E9D060DA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7100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36D999-58A8-2BE5-FFFE-3347C537C4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599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17CAD3-45BB-FDDB-D008-5419EA5DB3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14CBD0C-A49D-E688-875B-662AD4E5C92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01565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5B95C7BD-0ECF-E8E8-0AA1-669DC702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ED327D0-C0CF-65BA-41BD-4DD376DF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7B0F791-FCAD-93C1-469A-FF5C94923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D6FD505D-77D2-F2AA-38CA-7D137C31B2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22066" y="1050828"/>
            <a:ext cx="5958000" cy="539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Barlow"/>
              <a:buNone/>
              <a:tabLst/>
              <a:defRPr sz="2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DFE071F-83A9-FEE7-214E-2FCD9E1F5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98" y="640080"/>
            <a:ext cx="5040000" cy="1270000"/>
          </a:xfrm>
        </p:spPr>
        <p:txBody>
          <a:bodyPr anchor="t"/>
          <a:lstStyle>
            <a:lvl1pPr algn="l">
              <a:defRPr sz="3200" spc="0" baseline="0"/>
            </a:lvl1pPr>
          </a:lstStyle>
          <a:p>
            <a:r>
              <a:rPr lang="en-GB" dirty="0"/>
              <a:t>Click to Add Title in Barlow Medium 32 pt. Max Three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0673C-A7DF-F8F0-75F9-2DE7661FFE5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1" y="2191109"/>
            <a:ext cx="5040000" cy="4256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47974C77-A9A2-9C5D-4B14-33988A2D7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B890-9F88-CA9F-C400-1C66AD3B0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3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–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8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B4FFC0-576B-550B-4CBA-830C438E3C7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8400" y="1424723"/>
            <a:ext cx="5473925" cy="49388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54864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29CD75-8F30-B30C-E480-81A1F57798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258" y="1508426"/>
            <a:ext cx="5312865" cy="276296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2DA376E-BE10-B3A0-DBE8-9E5D6C7A2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558F40-9DA9-CB95-74DD-933171C63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5AF5B83E-6C3A-101F-034F-589F15E85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3351-C552-5A94-17B8-263F876C4AF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89677" y="1424723"/>
            <a:ext cx="5473925" cy="49388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54864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A2BAA59-1553-5E7A-5758-A536AEAD4B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8535" y="1508426"/>
            <a:ext cx="5312865" cy="276296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03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2C34F2-A2E5-C931-892C-CE8C345AC02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25E0C486-E304-0B39-E7CF-15E096E1F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85BC1DD9-AC3F-0292-BB41-73EB158CE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48B6C0D-5EBB-8307-1013-31292E06E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D195A7E-0C05-1F56-0D38-D979AC053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B10E12-5D30-25F8-D19C-B3E68E6B38A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02ACB762-6130-5103-7F8E-B72074746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7" name="Legal Statement">
            <a:extLst>
              <a:ext uri="{FF2B5EF4-FFF2-40B4-BE49-F238E27FC236}">
                <a16:creationId xmlns:a16="http://schemas.microsoft.com/office/drawing/2014/main" id="{D55D98FE-1E49-E649-CF80-534ECD170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2A745CB-3967-AEA6-EDEB-05D34A1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3320B93-2F90-58F6-9BE3-C21659D08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1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Line 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E01E07D0-B84C-94C2-609C-807354D42E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8" name="Legal Statement">
            <a:extLst>
              <a:ext uri="{FF2B5EF4-FFF2-40B4-BE49-F238E27FC236}">
                <a16:creationId xmlns:a16="http://schemas.microsoft.com/office/drawing/2014/main" id="{0F823DA7-FF9A-EFC6-F2C2-DE776C901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8E4D307-C8C1-6C95-AFDC-759E6C2C3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8853D40-8423-5943-1966-67876C31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Sub Hea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BC3E0B30-4B1F-2597-A54A-ACEF55669A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9" name="Legal Statement">
            <a:extLst>
              <a:ext uri="{FF2B5EF4-FFF2-40B4-BE49-F238E27FC236}">
                <a16:creationId xmlns:a16="http://schemas.microsoft.com/office/drawing/2014/main" id="{F2D7AFB9-BB35-6BAD-4F95-1B4AAFD93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B882CF-0122-EBC9-F9BA-92246F1A6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351E19C9-C3B9-95F2-8631-F77DC38B4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8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5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7D0926-3432-9767-B62F-356355C72801}"/>
              </a:ext>
            </a:extLst>
          </p:cNvPr>
          <p:cNvSpPr/>
          <p:nvPr userDrawn="1"/>
        </p:nvSpPr>
        <p:spPr>
          <a:xfrm>
            <a:off x="0" y="2695074"/>
            <a:ext cx="12192000" cy="4162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57200"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70000"/>
            </a:pPr>
            <a:endParaRPr lang="en-US" dirty="0">
              <a:solidFill>
                <a:srgbClr val="000000"/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69951A4-1AD3-A43C-C0FA-206FB4E657C2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638800" y="125170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289852-70F1-F42E-1E63-613E2DAE0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7000" y="2207967"/>
            <a:ext cx="6829596" cy="183127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A9F86B4-824B-44DC-9606-E1B953C49E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6998" y="2418038"/>
            <a:ext cx="6829597" cy="152606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Enter Title Across One Line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4D648701-E0D4-F459-51EF-4B4F2B1A3F9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8426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32D2988E-A812-22FF-DA6D-89824D7557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60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10F5B35-E695-3D97-91E9-74525E0879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608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B5505A30-F7BF-2A80-CF4F-DC82B7757FD7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3356272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9DE388AD-8068-7B82-4845-988319834F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79616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0CE3BC8-180C-52E1-AF8E-E93244629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9616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A66B708-BC6D-11ED-866E-BA899BDFCD5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905539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070D149-5511-661D-2248-E549DF46A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28883" y="3812396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1353DFC-A442-ADF3-481B-ACFF248E86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28883" y="4022467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86826487-F2C1-3F44-5BA4-13A46BCA2A25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1018184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F965BEF7-6D32-9FC9-AF58-1738AF114A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518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0004F470-48DD-29AB-C8B8-E868160D06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05188" y="4020560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C3204260-FF56-EA5A-C294-0D1D22FE0BE8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5632577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D6D5EEAF-B0CF-D1C5-1B9C-5419FFA36C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55921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7C1D65D-CDD0-1C2C-8A8C-72BFA3D224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55921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CC6CA299-A523-2251-23EF-771F55BE128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108426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5DFA18AA-F368-3565-0ACB-0D9625D2E40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760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00169ABB-4341-687D-4DEC-A6A58BFA9FA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7608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44F8E345-E274-A4FB-2B88-EDACE4AE4C33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356272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4F95D23-0C57-7BBB-D5B0-320615BA8F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79616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DCBC274C-0F2C-5F9C-9F0C-7A7332395B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79616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1" name="Picture Placeholder 6">
            <a:extLst>
              <a:ext uri="{FF2B5EF4-FFF2-40B4-BE49-F238E27FC236}">
                <a16:creationId xmlns:a16="http://schemas.microsoft.com/office/drawing/2014/main" id="{54CE9587-6C54-D011-6607-2A2E2ACEA84C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905539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C493F11E-B5FE-CBA1-7BAD-1A32E7FD56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28883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A31A7415-C8AE-8014-1304-CEA9950056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28883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4" name="Picture Placeholder 6">
            <a:extLst>
              <a:ext uri="{FF2B5EF4-FFF2-40B4-BE49-F238E27FC236}">
                <a16:creationId xmlns:a16="http://schemas.microsoft.com/office/drawing/2014/main" id="{45BC5C9C-55D1-0F5E-8670-CBF4AB9FB9A6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18184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BA302EF8-54CE-ECD1-533B-D6DF9FFC0CD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0518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6" name="Text Placeholder 8">
            <a:extLst>
              <a:ext uri="{FF2B5EF4-FFF2-40B4-BE49-F238E27FC236}">
                <a16:creationId xmlns:a16="http://schemas.microsoft.com/office/drawing/2014/main" id="{920988B0-5809-C2B5-EDED-86CDFE30986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05188" y="5804968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261BF2E2-641A-7C31-E2C0-6D6BFD64C7BB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5632577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4DAFA5E3-A4EC-D1CC-ACB3-95E586998D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55921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633DB6F-8049-E1EE-96AE-723ED3029A8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55921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3DDFAF-CEA6-D995-9D97-9CDECF6FEAC3}"/>
              </a:ext>
            </a:extLst>
          </p:cNvPr>
          <p:cNvSpPr txBox="1"/>
          <p:nvPr userDrawn="1"/>
        </p:nvSpPr>
        <p:spPr>
          <a:xfrm>
            <a:off x="4240443" y="127736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6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1050B6-525B-3A7B-AC73-4A4A2AD3668A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89675" y="990000"/>
            <a:ext cx="5498289" cy="5456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2449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Two Column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AC019C-E00B-1BBC-26AB-EE9B29FD79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7310" y="990001"/>
            <a:ext cx="5498289" cy="5468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A3767269-D440-03F9-BB78-6AB3B10BD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3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>
            <a:extLst>
              <a:ext uri="{FF2B5EF4-FFF2-40B4-BE49-F238E27FC236}">
                <a16:creationId xmlns:a16="http://schemas.microsoft.com/office/drawing/2014/main" id="{F60630CF-4BC1-4126-BAD0-74F5C380BC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405AAAEB-2168-EDFA-AE8A-1EB7C4DA25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101" y="985720"/>
            <a:ext cx="11353799" cy="5468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Statement/Quote, One Column,</a:t>
            </a:r>
            <a:br>
              <a:rPr lang="en-GB" dirty="0"/>
            </a:br>
            <a:r>
              <a:rPr lang="en-GB" dirty="0"/>
              <a:t>Barlow SemiBold, 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711B7826-C8B8-BDAD-0A12-46CAFB74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E77862-06B8-49B9-8840-9C5CBFE1F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44B91048-928D-46CA-F288-0674C5E34E11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12192000" cy="6853238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9525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the Icon to Add a Video</a:t>
            </a:r>
          </a:p>
        </p:txBody>
      </p:sp>
    </p:spTree>
    <p:extLst>
      <p:ext uri="{BB962C8B-B14F-4D97-AF65-F5344CB8AC3E}">
        <p14:creationId xmlns:p14="http://schemas.microsoft.com/office/powerpoint/2010/main" val="387220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Car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CBD4353F-D62D-2F4C-3041-F34431E54F85}"/>
              </a:ext>
            </a:extLst>
          </p:cNvPr>
          <p:cNvSpPr txBox="1"/>
          <p:nvPr userDrawn="1"/>
        </p:nvSpPr>
        <p:spPr>
          <a:xfrm>
            <a:off x="0" y="2410889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ctr" defTabSz="457200">
              <a:lnSpc>
                <a:spcPct val="90000"/>
              </a:lnSpc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sz="5000" b="0" i="0" spc="-100" baseline="0" dirty="0">
                <a:solidFill>
                  <a:schemeClr val="bg1"/>
                </a:solidFill>
                <a:latin typeface="Barlow Medium" pitchFamily="2" charset="77"/>
              </a:rPr>
              <a:t>AHEAD OF WHAT’S POSSIBLE</a:t>
            </a:r>
            <a:endParaRPr lang="en-US" sz="5000" b="0" i="0" spc="-100" baseline="25000" dirty="0">
              <a:solidFill>
                <a:schemeClr val="bg1"/>
              </a:solidFill>
              <a:latin typeface="Barlow Medium" pitchFamily="2" charset="77"/>
            </a:endParaRPr>
          </a:p>
        </p:txBody>
      </p:sp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77A01333-E4A7-1F2C-0116-91DF7AC37E43}"/>
              </a:ext>
            </a:extLst>
          </p:cNvPr>
          <p:cNvSpPr txBox="1"/>
          <p:nvPr userDrawn="1"/>
        </p:nvSpPr>
        <p:spPr>
          <a:xfrm>
            <a:off x="5466000" y="3488780"/>
            <a:ext cx="1260000" cy="279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8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</a:t>
            </a:r>
            <a:r>
              <a:rPr lang="en-IE" sz="1800" b="0" i="0" u="none" spc="10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9611C-2544-31F0-337A-5ACA47B9BFEE}"/>
              </a:ext>
            </a:extLst>
          </p:cNvPr>
          <p:cNvSpPr txBox="1"/>
          <p:nvPr userDrawn="1"/>
        </p:nvSpPr>
        <p:spPr>
          <a:xfrm>
            <a:off x="0" y="6559905"/>
            <a:ext cx="12193200" cy="18466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en-IE" sz="600" b="0" i="0" dirty="0">
                <a:solidFill>
                  <a:schemeClr val="bg1"/>
                </a:solidFill>
                <a:latin typeface="Barlow" pitchFamily="2" charset="77"/>
              </a:rPr>
              <a:t>©2026 Analog Devices, Inc. All Rights Reserved. </a:t>
            </a:r>
          </a:p>
        </p:txBody>
      </p:sp>
      <p:pic>
        <p:nvPicPr>
          <p:cNvPr id="2" name="Graphic 1">
            <a:hlinkClick r:id="rId4"/>
            <a:extLst>
              <a:ext uri="{FF2B5EF4-FFF2-40B4-BE49-F238E27FC236}">
                <a16:creationId xmlns:a16="http://schemas.microsoft.com/office/drawing/2014/main" id="{541BB206-E2EC-4ECC-7367-C7B15913829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0341" y="4864462"/>
            <a:ext cx="1852246" cy="52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35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Relationship Id="rId2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171D4C-9683-BD15-3D7B-0F5C911F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itle 5"/>
          <p:cNvSpPr>
            <a:spLocks noGrp="1"/>
          </p:cNvSpPr>
          <p:nvPr>
            <p:ph type="title"/>
          </p:nvPr>
        </p:nvSpPr>
        <p:spPr>
          <a:xfrm>
            <a:off x="417600" y="640080"/>
            <a:ext cx="10080000" cy="450000"/>
          </a:xfrm>
          <a:prstGeom prst="rect">
            <a:avLst/>
          </a:prstGeom>
          <a:noFill/>
        </p:spPr>
        <p:txBody>
          <a:bodyPr vert="horz" wrap="square" lIns="0" tIns="36576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Analog Logo">
            <a:extLst>
              <a:ext uri="{FF2B5EF4-FFF2-40B4-BE49-F238E27FC236}">
                <a16:creationId xmlns:a16="http://schemas.microsoft.com/office/drawing/2014/main" id="{C045C3B2-FF7D-A8D6-DE50-897DAAED8ED3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0911547" y="392097"/>
            <a:ext cx="869518" cy="2468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Legal Statement">
            <a:extLst>
              <a:ext uri="{FF2B5EF4-FFF2-40B4-BE49-F238E27FC236}">
                <a16:creationId xmlns:a16="http://schemas.microsoft.com/office/drawing/2014/main" id="{588B6EED-4863-B18E-517F-943471A95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C7B0831-6F35-A7A6-9972-3A008CCC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0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4" r:id="rId2"/>
    <p:sldLayoutId id="2147483678" r:id="rId3"/>
    <p:sldLayoutId id="2147483753" r:id="rId4"/>
    <p:sldLayoutId id="2147483768" r:id="rId5"/>
    <p:sldLayoutId id="2147483752" r:id="rId6"/>
    <p:sldLayoutId id="2147483709" r:id="rId7"/>
    <p:sldLayoutId id="2147483739" r:id="rId8"/>
    <p:sldLayoutId id="2147483743" r:id="rId9"/>
    <p:sldLayoutId id="2147483681" r:id="rId10"/>
    <p:sldLayoutId id="2147483722" r:id="rId11"/>
    <p:sldLayoutId id="2147483716" r:id="rId12"/>
    <p:sldLayoutId id="2147483762" r:id="rId13"/>
    <p:sldLayoutId id="2147483763" r:id="rId14"/>
    <p:sldLayoutId id="2147483769" r:id="rId15"/>
    <p:sldLayoutId id="2147483770" r:id="rId16"/>
    <p:sldLayoutId id="2147483777" r:id="rId17"/>
    <p:sldLayoutId id="2147483772" r:id="rId18"/>
    <p:sldLayoutId id="2147483761" r:id="rId19"/>
    <p:sldLayoutId id="2147483758" r:id="rId20"/>
    <p:sldLayoutId id="2147483744" r:id="rId21"/>
    <p:sldLayoutId id="2147483759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indent="0" algn="l" defTabSz="457200" rtl="0" eaLnBrk="1" latinLnBrk="0" hangingPunct="1">
        <a:lnSpc>
          <a:spcPct val="85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Barlow Medium" pitchFamily="2" charset="77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Tx/>
        <a:buNone/>
        <a:tabLst/>
        <a:defRPr lang="en-US" sz="18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1pPr>
      <a:lvl2pPr marL="4572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2pPr>
      <a:lvl3pPr marL="867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3pPr>
      <a:lvl4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200" b="0" i="0" kern="120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4pPr>
      <a:lvl5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lang="en-US" sz="1400" b="0" i="0" kern="1200" cap="none" spc="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5pPr>
      <a:lvl6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 cap="none" spc="0" baseline="0">
          <a:solidFill>
            <a:schemeClr val="tx1"/>
          </a:solidFill>
          <a:latin typeface="Barlow" pitchFamily="2" charset="77"/>
          <a:ea typeface="+mn-ea"/>
          <a:cs typeface="+mn-cs"/>
        </a:defRPr>
      </a:lvl6pPr>
      <a:lvl7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7pPr>
      <a:lvl8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8pPr>
      <a:lvl9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5116" userDrawn="1">
          <p15:clr>
            <a:srgbClr val="F26B43"/>
          </p15:clr>
        </p15:guide>
        <p15:guide id="8" pos="6266" userDrawn="1">
          <p15:clr>
            <a:srgbClr val="F26B43"/>
          </p15:clr>
        </p15:guide>
        <p15:guide id="9" pos="7416" userDrawn="1">
          <p15:clr>
            <a:srgbClr val="F26B43"/>
          </p15:clr>
        </p15:guide>
        <p15:guide id="10" orient="horz" userDrawn="1">
          <p15:clr>
            <a:srgbClr val="F26B43"/>
          </p15:clr>
        </p15:guide>
        <p15:guide id="11" orient="horz" pos="4320" userDrawn="1">
          <p15:clr>
            <a:srgbClr val="F26B43"/>
          </p15:clr>
        </p15:guide>
        <p15:guide id="12" orient="horz" pos="624" userDrawn="1">
          <p15:clr>
            <a:srgbClr val="F26B43"/>
          </p15:clr>
        </p15:guide>
        <p15:guide id="20" orient="horz" pos="3920" userDrawn="1">
          <p15:clr>
            <a:srgbClr val="F26B43"/>
          </p15:clr>
        </p15:guide>
        <p15:guide id="22" pos="3962" userDrawn="1">
          <p15:clr>
            <a:srgbClr val="F26B43"/>
          </p15:clr>
        </p15:guide>
        <p15:guide id="23" pos="2570" userDrawn="1">
          <p15:clr>
            <a:srgbClr val="F26B43"/>
          </p15:clr>
        </p15:guide>
        <p15:guide id="24" pos="371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b="0"/>
            </a:pPr>
            <a:r>
              <a:t>Local proxy workaround · WSL2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b="0"/>
            </a:pPr>
            <a:r>
              <a:t>ChipAgents Web v0.44.3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0"/>
            </a:pPr>
            <a:r>
              <a:t>Image Paste for ChipAgents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Problem: screenshots take five steps to reach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</a:defRPr>
            </a:pPr>
            <a:r>
              <a:t>Today (v0.44.3): the chat box accepts text only. Images must be saved and referenced by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19656"/>
            <a:ext cx="11201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dk2"/>
                </a:solidFill>
              </a:defRPr>
            </a:pPr>
            <a:r>
              <a:t>Before — manual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1201400" cy="1417320"/>
          </a:xfrm>
          <a:prstGeom prst="roundRect">
            <a:avLst>
              <a:gd name="adj" fmla="val 4000"/>
            </a:avLst>
          </a:prstGeom>
          <a:solidFill>
            <a:schemeClr val="dk2">
              <a:lumMod val="15000"/>
              <a:lumOff val="85000"/>
            </a:schemeClr>
          </a:solidFill>
          <a:ln w="15875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828800" cy="96012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Win+Shift+S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screenshot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6896" y="2724912"/>
            <a:ext cx="310896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4368" y="2377440"/>
            <a:ext cx="1828800" cy="96012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Open Paint /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Save As…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9744" y="2724912"/>
            <a:ext cx="310896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57216" y="2377440"/>
            <a:ext cx="1828800" cy="96012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Pick folder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 file name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22592" y="2724912"/>
            <a:ext cx="310896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70064" y="2377440"/>
            <a:ext cx="1828800" cy="96012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Type /mnt/c/…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path in chat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35440" y="2724912"/>
            <a:ext cx="310896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82912" y="2377440"/>
            <a:ext cx="1828800" cy="96012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Agent reads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the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31335"/>
            <a:ext cx="11201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accent1"/>
                </a:solidFill>
              </a:defRPr>
            </a:pPr>
            <a:r>
              <a:t>After — with the paste proxy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11201400" cy="1417320"/>
          </a:xfrm>
          <a:prstGeom prst="roundRect">
            <a:avLst>
              <a:gd name="adj" fmla="val 4000"/>
            </a:avLst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828800" cy="9601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Win+Shift+S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screenshot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96896" y="4736592"/>
            <a:ext cx="310896" cy="2743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44368" y="4389120"/>
            <a:ext cx="1828800" cy="9601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Ctrl+V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in chat box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09744" y="4736592"/>
            <a:ext cx="310896" cy="2743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57216" y="4389120"/>
            <a:ext cx="4041648" cy="9601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Path inserted automatically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[pasted image: /mnt/c/…/screens/paste_&lt;ts&gt;.png]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35440" y="4736592"/>
            <a:ext cx="310896" cy="2743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82912" y="4389120"/>
            <a:ext cx="1828800" cy="9601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Agent reads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the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600" b="1">
                <a:solidFill>
                  <a:schemeClr val="accent1"/>
                </a:solidFill>
              </a:defRPr>
            </a:pPr>
            <a:r>
              <a:t>5 manual steps  →  2 keystrokes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Architecture: a pass-through proxy in front of chipagents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53895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dk2"/>
                </a:solidFill>
              </a:defRPr>
            </a:pPr>
            <a:r>
              <a:t>Windows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2697480" cy="3886200"/>
          </a:xfrm>
          <a:prstGeom prst="roundRect">
            <a:avLst>
              <a:gd name="adj" fmla="val 4000"/>
            </a:avLst>
          </a:prstGeom>
          <a:solidFill>
            <a:schemeClr val="dk2">
              <a:lumMod val="15000"/>
              <a:lumOff val="85000"/>
            </a:schemeClr>
          </a:solidFill>
          <a:ln w="15875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331720" cy="123444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Browser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Edge / Chrome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localhost:4300/hub?token=…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2331720" cy="123444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paste-inject.js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paste handler injected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into the hub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23317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</a:defRPr>
            </a:pPr>
            <a:r>
              <a:t>Clipboard image →</a:t>
            </a:r>
          </a:p>
          <a:p>
            <a:pPr algn="ctr">
              <a:defRPr sz="1000" b="0">
                <a:solidFill>
                  <a:srgbClr val="606060"/>
                </a:solidFill>
              </a:defRPr>
            </a:pPr>
            <a:r>
              <a:t>upload + insert path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2487168"/>
            <a:ext cx="685800" cy="36576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880360"/>
            <a:ext cx="109728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chemeClr val="dk2"/>
                </a:solidFill>
              </a:defRPr>
            </a:pPr>
            <a:r>
              <a:t>HTTP</a:t>
            </a:r>
          </a:p>
          <a:p>
            <a:pPr algn="ctr">
              <a:defRPr sz="1000" b="0">
                <a:solidFill>
                  <a:schemeClr val="dk2"/>
                </a:solidFill>
              </a:defRPr>
            </a:pPr>
            <a:r>
              <a:t>SSE</a:t>
            </a:r>
          </a:p>
          <a:p>
            <a:pPr algn="ctr">
              <a:defRPr sz="1000" b="0">
                <a:solidFill>
                  <a:schemeClr val="dk2"/>
                </a:solidFill>
              </a:defRPr>
            </a:pPr>
            <a:r>
              <a:t>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53895"/>
            <a:ext cx="7726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accent1"/>
                </a:solidFill>
              </a:defRPr>
            </a:pPr>
            <a:r>
              <a:t>WSL2 · Unix user jcortez3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783080"/>
            <a:ext cx="7726679" cy="3886200"/>
          </a:xfrm>
          <a:prstGeom prst="roundRect">
            <a:avLst>
              <a:gd name="adj" fmla="val 4000"/>
            </a:avLst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2057400"/>
            <a:ext cx="2926080" cy="1234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paste-proxy.js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Node 18 · 127.0.0.1:4300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injects script · forwards traffic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69480" y="2487168"/>
            <a:ext cx="685800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880360"/>
            <a:ext cx="8229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chemeClr val="accent1"/>
                </a:solidFill>
              </a:defRPr>
            </a:pPr>
            <a:r>
              <a:t>token</a:t>
            </a:r>
          </a:p>
          <a:p>
            <a:pPr algn="ctr">
              <a:defRPr sz="1000" b="0">
                <a:solidFill>
                  <a:schemeClr val="accent1"/>
                </a:solidFill>
              </a:defRPr>
            </a:pPr>
            <a:r>
              <a:t>forwarded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57400"/>
            <a:ext cx="3474720" cy="123444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chipagents web v0.44.3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127.0.0.1:4242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child process of the proxy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532120" y="3364992"/>
            <a:ext cx="365760" cy="54864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429000"/>
            <a:ext cx="201168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chemeClr val="accent2"/>
                </a:solidFill>
                <a:latin typeface="Consolas"/>
              </a:defRPr>
            </a:pPr>
            <a:r>
              <a:t>POST /__paste/upload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977639"/>
            <a:ext cx="2926080" cy="123444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Desktop\screens\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paste_&lt;timestamp&gt;.png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69480" y="4416552"/>
            <a:ext cx="685800" cy="36576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4800600"/>
            <a:ext cx="8229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chemeClr val="accent3"/>
                </a:solidFill>
              </a:defRPr>
            </a:pPr>
            <a:r>
              <a:t>View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39"/>
            <a:ext cx="3474720" cy="12344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reads the image from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/mnt/c/…/screens/…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79008"/>
            <a:ext cx="112928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chemeClr val="accent1"/>
                </a:solidFill>
              </a:defRPr>
            </a:pPr>
            <a:r>
              <a:t>Only two routes are new (/__paste/*). Everything else passes through unchanged.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Paste flow: from Ctrl+V to a file path in the prompt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137160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Ctrl+V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in chat box</a:t>
            </a:r>
          </a:p>
        </p:txBody>
      </p:sp>
      <p:sp>
        <p:nvSpPr>
          <p:cNvPr id="4" name="Oval 3"/>
          <p:cNvSpPr/>
          <p:nvPr/>
        </p:nvSpPr>
        <p:spPr>
          <a:xfrm>
            <a:off x="996696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06524" y="2258568"/>
            <a:ext cx="201168" cy="237744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39696" y="1783080"/>
            <a:ext cx="1371600" cy="1188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Intercept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capture-phase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paste listener</a:t>
            </a:r>
          </a:p>
        </p:txBody>
      </p:sp>
      <p:sp>
        <p:nvSpPr>
          <p:cNvPr id="7" name="Oval 6"/>
          <p:cNvSpPr/>
          <p:nvPr/>
        </p:nvSpPr>
        <p:spPr>
          <a:xfrm>
            <a:off x="2633472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43300" y="2258568"/>
            <a:ext cx="201168" cy="237744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76472" y="1783080"/>
            <a:ext cx="137160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Check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image file &amp;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no plain text</a:t>
            </a:r>
          </a:p>
        </p:txBody>
      </p:sp>
      <p:sp>
        <p:nvSpPr>
          <p:cNvPr id="10" name="Oval 9"/>
          <p:cNvSpPr/>
          <p:nvPr/>
        </p:nvSpPr>
        <p:spPr>
          <a:xfrm>
            <a:off x="4270248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80076" y="2258568"/>
            <a:ext cx="201168" cy="237744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13248" y="1783080"/>
            <a:ext cx="1371600" cy="1188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Upload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POST bytes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/__paste/upload</a:t>
            </a:r>
          </a:p>
        </p:txBody>
      </p:sp>
      <p:sp>
        <p:nvSpPr>
          <p:cNvPr id="13" name="Oval 12"/>
          <p:cNvSpPr/>
          <p:nvPr/>
        </p:nvSpPr>
        <p:spPr>
          <a:xfrm>
            <a:off x="5907024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16852" y="2258568"/>
            <a:ext cx="201168" cy="237744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50024" y="1783080"/>
            <a:ext cx="137160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Save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screens\paste_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&lt;ts&gt;.&lt;ext&gt;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53628" y="2258568"/>
            <a:ext cx="201168" cy="237744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1783080"/>
            <a:ext cx="1371600" cy="1188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Insert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path at cursor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 green toast</a:t>
            </a:r>
          </a:p>
        </p:txBody>
      </p:sp>
      <p:sp>
        <p:nvSpPr>
          <p:cNvPr id="19" name="Oval 18"/>
          <p:cNvSpPr/>
          <p:nvPr/>
        </p:nvSpPr>
        <p:spPr>
          <a:xfrm>
            <a:off x="9180576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90404" y="2258568"/>
            <a:ext cx="201168" cy="237744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23576" y="1783080"/>
            <a:ext cx="137160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Send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agent reads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image</a:t>
            </a:r>
          </a:p>
        </p:txBody>
      </p:sp>
      <p:sp>
        <p:nvSpPr>
          <p:cNvPr id="22" name="Oval 21"/>
          <p:cNvSpPr/>
          <p:nvPr/>
        </p:nvSpPr>
        <p:spPr>
          <a:xfrm>
            <a:off x="10817352" y="137160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Interception 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11880"/>
            <a:ext cx="5486400" cy="146304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200" b="1">
                <a:solidFill>
                  <a:schemeClr val="dk1"/>
                </a:solidFill>
              </a:defRPr>
            </a:pPr>
            <a:r>
              <a:t>Handle the paste only when ALL are true: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• focus is a textarea, text input or contenteditable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• clipboard holds a png / jpg / gif / webp file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• clipboard has no plain text (Excel/Word copies pass through)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46120"/>
            <a:ext cx="5440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What you see in the chat box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11880"/>
            <a:ext cx="5440680" cy="914400"/>
          </a:xfrm>
          <a:prstGeom prst="roundRect">
            <a:avLst/>
          </a:prstGeom>
          <a:solidFill>
            <a:schemeClr val="lt1"/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  <a:latin typeface="Consolas"/>
              </a:defRPr>
            </a:pPr>
            <a:r>
              <a:t>[pasted image: /mnt/c/Users/jcortez3/Desktop/screens/paste_20261029_172044_855.png] why is this test failing?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4663440"/>
            <a:ext cx="333756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Image saved: paste_20261029_172044_855.png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49240"/>
            <a:ext cx="1120140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Insertion uses document.execCommand("insertText"), so the React input state and Ctrl+Z undo stay consistent.</a:t>
            </a:r>
          </a:p>
          <a:p>
            <a:pPr algn="l">
              <a:defRPr sz="1100" b="0">
                <a:solidFill>
                  <a:srgbClr val="606060"/>
                </a:solidFill>
              </a:defRPr>
            </a:pPr>
            <a:r>
              <a:t>Fallback: native value setter + input event.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Side effect: the Windows "other users" 403 goes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44752"/>
            <a:ext cx="7315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Before — direct to chipagents web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105156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Windows browser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23744" y="219456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965960" cy="105156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WSL localhost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forwarding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46903" y="219456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49240" y="1828800"/>
            <a:ext cx="1965960" cy="105156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chipagents web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:4242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70064" y="219456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3931920" cy="1051560"/>
          </a:xfrm>
          <a:prstGeom prst="round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403  "Connections from other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users are not allowed"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10712"/>
            <a:ext cx="7315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After — through the paste proxy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1965960" cy="105156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Windows browser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23744" y="416052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3794760"/>
            <a:ext cx="1965960" cy="105156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WSL localhost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forwarding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46903" y="416052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9240" y="3794760"/>
            <a:ext cx="1965960" cy="105156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paste-proxy.js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(runs as jcortez3)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70064" y="416052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3794760"/>
            <a:ext cx="1965960" cy="105156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chipagents web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:4242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93224" y="4160520"/>
            <a:ext cx="347472" cy="32004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95560" y="3794760"/>
            <a:ext cx="1508760" cy="1051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200  same Unix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user → accepted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12014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Observed: a Windows request straight to chipagents web returns 403. The same request through the proxy returns 200 on /hub/api/workspaces.</a:t>
            </a:r>
          </a:p>
          <a:p>
            <a:pPr algn="l">
              <a:defRPr sz="1100" b="0">
                <a:solidFill>
                  <a:schemeClr val="dk1"/>
                </a:solidFill>
              </a:defRPr>
            </a:pPr>
            <a:r>
              <a:t>Why: the server checks that the connecting process runs as the same Unix user. The proxy runs inside WSL as jcortez3. The exact cause of the direct-path failure is inferred, not documented.</a:t>
            </a:r>
          </a:p>
          <a:p>
            <a:pPr algn="l">
              <a:defRPr sz="1100" b="0">
                <a:solidFill>
                  <a:schemeClr val="dk1"/>
                </a:solidFill>
              </a:defRPr>
            </a:pPr>
            <a:r>
              <a:t>Result: CHIPAGENTS_DISABLE_UID_CHECK is not needed with this launcher. Token auth is still enforced.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Security controls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3886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Effect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Network exposure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Proxy binds 127.0.0.1 only; upstream is 127.0.0.1:4242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No LAN/remote access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Hub token (x-access-token / ?token=) forwarded untouched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Missing token → 401 from chipagents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Cross-site upload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Upload requires X-ChipAgents-Paste: 1 header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Forces CORS preflight, which the proxy never approves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Origin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Origin must be http://localhost|127.0.0.1:&lt;proxy port&gt;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Other origins → 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Content type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png, jpg, gif, webp only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Others → 415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Size 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25 MB per image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Larger → 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Data egress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Files stay on the local disk (Desktop\screens)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No external network calls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UID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Left enabled; proxy connects as the same Unix 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chemeClr val="dk1"/>
                          </a:solidFill>
                        </a:defRPr>
                      </a:pPr>
                      <a:r>
                        <a:t>No env override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715000"/>
            <a:ext cx="112014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Not covered: other local users who obtain the hub token. Keep the printed link private, as with plain chipagents web.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Verification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201400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566160"/>
                <a:gridCol w="3337560"/>
                <a:gridCol w="1463040"/>
              </a:tblGrid>
              <a:tr h="42976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Stimulus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Expected / observed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Hub HTML via proxy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GET /hub (Accept: text/html)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inject.js tag present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Inject script served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GET /__paste/inject.js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HTTP 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Large asset pass-through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GET /hub/main.js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HTTP 200, 19,559,835 B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Upload without header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POST /__paste/upload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HTTP 403 forbidden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Upload, foreign origin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Origin: http://evil.com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HTTP 403 forbidden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Upload, valid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PNG + header + loopback origin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File saved, path returned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Auth preserved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GET /api/version, no token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HTTP 401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Windows → proxy (auth)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curl.exe /hub/api/workspaces +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HTTP 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Browser Ctrl+V end-to-end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Edge/Chrome, Win+Shift+S → Ctrl+V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chemeClr val="dk1"/>
                          </a:solidFill>
                        </a:defRPr>
                      </a:pPr>
                      <a:r>
                        <a:t>Path inserted, toast shown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26A0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All checks except the last were run with curl from WSL and from Windows. The browser paste test is the next manual step.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Files and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Files  (Desktop\chiagents web\)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486400" cy="64008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1">
                <a:solidFill>
                  <a:schemeClr val="dk1"/>
                </a:solidFill>
              </a:defRPr>
            </a:pPr>
            <a:r>
              <a:t>chipagents-web-paste.bat</a:t>
            </a:r>
          </a:p>
          <a:p>
            <a:pPr algn="l">
              <a:defRPr sz="1100" b="0">
                <a:solidFill>
                  <a:schemeClr val="dk1"/>
                </a:solidFill>
              </a:defRPr>
            </a:pPr>
            <a:r>
              <a:t>One-click launcher (WSL, CA bundle, ports)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32888"/>
            <a:ext cx="5486400" cy="64008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1">
                <a:solidFill>
                  <a:schemeClr val="dk1"/>
                </a:solidFill>
              </a:defRPr>
            </a:pPr>
            <a:r>
              <a:t>paste-proxy\paste-proxy.js</a:t>
            </a:r>
          </a:p>
          <a:p>
            <a:pPr algn="l">
              <a:defRPr sz="1100" b="0">
                <a:solidFill>
                  <a:schemeClr val="dk1"/>
                </a:solidFill>
              </a:defRPr>
            </a:pPr>
            <a:r>
              <a:t>Proxy + child chipagents web, no npm deps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82696"/>
            <a:ext cx="5486400" cy="64008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1">
                <a:solidFill>
                  <a:schemeClr val="dk1"/>
                </a:solidFill>
              </a:defRPr>
            </a:pPr>
            <a:r>
              <a:t>paste-proxy\paste-inject.js</a:t>
            </a:r>
          </a:p>
          <a:p>
            <a:pPr algn="l">
              <a:defRPr sz="1100" b="0">
                <a:solidFill>
                  <a:schemeClr val="dk1"/>
                </a:solidFill>
              </a:defRPr>
            </a:pPr>
            <a:r>
              <a:t>Browser-side paste 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32504"/>
            <a:ext cx="5486400" cy="64008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1">
                <a:solidFill>
                  <a:schemeClr val="dk1"/>
                </a:solidFill>
              </a:defRPr>
            </a:pPr>
            <a:r>
              <a:t>paste-proxy\README.md</a:t>
            </a:r>
          </a:p>
          <a:p>
            <a:pPr algn="l">
              <a:defRPr sz="1100" b="0">
                <a:solidFill>
                  <a:schemeClr val="dk1"/>
                </a:solidFill>
              </a:defRPr>
            </a:pPr>
            <a:r>
              <a:t>How it works, env vars,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71600"/>
            <a:ext cx="53492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Run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1819656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783080"/>
            <a:ext cx="48920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chemeClr val="dk1"/>
                </a:solidFill>
              </a:defRPr>
            </a:pPr>
            <a:r>
              <a:t>Double-click chipagents-web-paste.bat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2368296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331720"/>
            <a:ext cx="48920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chemeClr val="dk1"/>
                </a:solidFill>
              </a:defRPr>
            </a:pPr>
            <a:r>
              <a:t>Browser opens the tokenized link on port 4300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2916936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880360"/>
            <a:ext cx="48920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chemeClr val="dk1"/>
                </a:solidFill>
              </a:defRPr>
            </a:pPr>
            <a:r>
              <a:t>Win+Shift+S, click the chat box, Ctrl+V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20440"/>
            <a:ext cx="53492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chemeClr val="accent1"/>
                </a:solidFill>
              </a:defRPr>
            </a:pPr>
            <a:r>
              <a:t>Environment variables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3886200"/>
          <a:ext cx="5349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20040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PASTE_DIR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/mnt/c/…/Desktop/screens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PASTE_PROXY_PORT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4300 (first tried)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HUB_PORT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4242 (chipagents start port)</a:t>
                      </a:r>
                    </a:p>
                  </a:txBody>
                  <a:tcPr anchor="ctr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PASTE_NO_BROWSER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chemeClr val="dk1"/>
                          </a:solidFill>
                        </a:defRPr>
                      </a:pPr>
                      <a:r>
                        <a:t>unset (1 = no auto-open)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B3261E"/>
                </a:solidFill>
              </a:defRPr>
            </a:pPr>
            <a:r>
              <a:t>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486400" cy="676656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Unofficial: a ChipAgents update can change the hub page and break the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69464"/>
            <a:ext cx="5486400" cy="676656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Use the proxy link (port 4300); the direct link has no paste and hits the UID 403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55848"/>
            <a:ext cx="5486400" cy="676656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Pasted images are not deleted automatically; clean Desktop\screens periodically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42232"/>
            <a:ext cx="5486400" cy="676656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Clipboard paste only; no drag-and-drop yet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28616"/>
            <a:ext cx="5486400" cy="676656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Agent sees a file path, not an inline thumbnail in the chat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492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Next steps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192938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83080"/>
            <a:ext cx="4846320" cy="676656"/>
          </a:xfrm>
          <a:prstGeom prst="roundRect">
            <a:avLst/>
          </a:prstGeom>
          <a:solidFill>
            <a:schemeClr val="accent2">
              <a:lumMod val="15000"/>
              <a:lumOff val="85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Run the browser Ctrl+V end-to-end test (only pending check)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271576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569464"/>
            <a:ext cx="4846320" cy="676656"/>
          </a:xfrm>
          <a:prstGeom prst="roundRect">
            <a:avLst/>
          </a:prstGeom>
          <a:solidFill>
            <a:schemeClr val="accent2">
              <a:lumMod val="15000"/>
              <a:lumOff val="85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Request native image paste via /bug-report or the ChipAgents admin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3502152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355848"/>
            <a:ext cx="4846320" cy="676656"/>
          </a:xfrm>
          <a:prstGeom prst="roundRect">
            <a:avLst/>
          </a:prstGeom>
          <a:solidFill>
            <a:schemeClr val="accent2">
              <a:lumMod val="15000"/>
              <a:lumOff val="85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Optional: auto-delete screens older than N days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428853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142232"/>
            <a:ext cx="4846320" cy="676656"/>
          </a:xfrm>
          <a:prstGeom prst="roundRect">
            <a:avLst/>
          </a:prstGeom>
          <a:solidFill>
            <a:schemeClr val="accent2">
              <a:lumMod val="15000"/>
              <a:lumOff val="85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Optional: drag-and-drop images onto the chat box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5074920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928616"/>
            <a:ext cx="4846320" cy="676656"/>
          </a:xfrm>
          <a:prstGeom prst="roundRect">
            <a:avLst/>
          </a:prstGeom>
          <a:solidFill>
            <a:schemeClr val="accent2">
              <a:lumMod val="15000"/>
              <a:lumOff val="85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Retire the proxy once ChipAgents supports image paste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DI-Brand-PowerPoint-Template-Standard">
  <a:themeElements>
    <a:clrScheme name="ADI Colors 2">
      <a:dk1>
        <a:srgbClr val="000000"/>
      </a:dk1>
      <a:lt1>
        <a:srgbClr val="FFFFFF"/>
      </a:lt1>
      <a:dk2>
        <a:srgbClr val="0067B9"/>
      </a:dk2>
      <a:lt2>
        <a:srgbClr val="9EA1AE"/>
      </a:lt2>
      <a:accent1>
        <a:srgbClr val="00325C"/>
      </a:accent1>
      <a:accent2>
        <a:srgbClr val="1B9CD0"/>
      </a:accent2>
      <a:accent3>
        <a:srgbClr val="8637BA"/>
      </a:accent3>
      <a:accent4>
        <a:srgbClr val="179963"/>
      </a:accent4>
      <a:accent5>
        <a:srgbClr val="FED141"/>
      </a:accent5>
      <a:accent6>
        <a:srgbClr val="C81A28"/>
      </a:accent6>
      <a:hlink>
        <a:srgbClr val="0067B9"/>
      </a:hlink>
      <a:folHlink>
        <a:srgbClr val="3C4157"/>
      </a:folHlink>
    </a:clrScheme>
    <a:fontScheme name="Custom 3">
      <a:majorFont>
        <a:latin typeface="Barlow Medium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  <a:miter lim="800000"/>
        </a:ln>
        <a:effectLst/>
      </a:spPr>
      <a:bodyPr rtlCol="0" anchor="ctr"/>
      <a:lstStyle>
        <a:defPPr algn="l" defTabSz="457200">
          <a:spcBef>
            <a:spcPts val="600"/>
          </a:spcBef>
          <a:spcAft>
            <a:spcPts val="800"/>
          </a:spcAft>
          <a:buClr>
            <a:schemeClr val="accent1"/>
          </a:buClr>
          <a:buSzPct val="70000"/>
          <a:defRPr dirty="0" err="1">
            <a:solidFill>
              <a:srgbClr val="000000"/>
            </a:solidFill>
            <a:latin typeface="Barlow" pitchFamily="2" charset="77"/>
            <a:cs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DI-Brand-PowerPoint-Template-Standard-2026-v1" id="{40DE6F68-A61A-7B47-A258-928C1C5356C2}" vid="{2E38A971-A560-AD48-AAB7-2A51DE47FE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2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3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4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42d541-bde2-496f-b98d-1eb5cfe33e34" xsi:nil="true"/>
    <lcf76f155ced4ddcb4097134ff3c332f xmlns="94b72ae9-bf22-4152-8388-3de8faa2520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EC1CFF4750D848B193E453B794BCA3" ma:contentTypeVersion="12" ma:contentTypeDescription="Create a new document." ma:contentTypeScope="" ma:versionID="cfc8eabe11d47c4b0e76a2e73156a029">
  <xsd:schema xmlns:xsd="http://www.w3.org/2001/XMLSchema" xmlns:xs="http://www.w3.org/2001/XMLSchema" xmlns:p="http://schemas.microsoft.com/office/2006/metadata/properties" xmlns:ns2="94b72ae9-bf22-4152-8388-3de8faa2520d" xmlns:ns3="3542d541-bde2-496f-b98d-1eb5cfe33e34" targetNamespace="http://schemas.microsoft.com/office/2006/metadata/properties" ma:root="true" ma:fieldsID="d7ef95deec2bde1a64b63289215ed5b4" ns2:_="" ns3:_="">
    <xsd:import namespace="94b72ae9-bf22-4152-8388-3de8faa2520d"/>
    <xsd:import namespace="3542d541-bde2-496f-b98d-1eb5cfe33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72ae9-bf22-4152-8388-3de8faa252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45de00c-9d84-443a-8c85-ac82572830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2d541-bde2-496f-b98d-1eb5cfe33e3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fea23f4-d62d-4008-8a8e-f52e38a3a619}" ma:internalName="TaxCatchAll" ma:showField="CatchAllData" ma:web="3542d541-bde2-496f-b98d-1eb5cfe33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4B9140-26E6-4E72-9154-F59756961C05}">
  <ds:schemaRefs>
    <ds:schemaRef ds:uri="http://schemas.microsoft.com/office/2006/metadata/properties"/>
    <ds:schemaRef ds:uri="http://schemas.microsoft.com/office/infopath/2007/PartnerControls"/>
    <ds:schemaRef ds:uri="cf6b8ade-fe7a-4cef-8baf-a5f3f527de75"/>
    <ds:schemaRef ds:uri="3542d541-bde2-496f-b98d-1eb5cfe33e34"/>
    <ds:schemaRef ds:uri="94b72ae9-bf22-4152-8388-3de8faa2520d"/>
  </ds:schemaRefs>
</ds:datastoreItem>
</file>

<file path=customXml/itemProps2.xml><?xml version="1.0" encoding="utf-8"?>
<ds:datastoreItem xmlns:ds="http://schemas.openxmlformats.org/officeDocument/2006/customXml" ds:itemID="{D1D62161-A54D-49BC-81E1-9C693C4A59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8F4568-E9A8-49F6-8BBA-3D3F7180B8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b72ae9-bf22-4152-8388-3de8faa2520d"/>
    <ds:schemaRef ds:uri="3542d541-bde2-496f-b98d-1eb5cfe33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2715</Words>
  <Application>Microsoft Macintosh PowerPoint</Application>
  <PresentationFormat>Widescreen</PresentationFormat>
  <Paragraphs>183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Barlow Medium</vt:lpstr>
      <vt:lpstr>Barlow</vt:lpstr>
      <vt:lpstr>Wingdings 3</vt:lpstr>
      <vt:lpstr>Calibri</vt:lpstr>
      <vt:lpstr>Barlow SemiBold</vt:lpstr>
      <vt:lpstr>Wingdings</vt:lpstr>
      <vt:lpstr>ADI-Brand-PowerPoint-Template-Standard</vt:lpstr>
      <vt:lpstr>PowerPoint Presentation</vt:lpstr>
      <vt:lpstr>PowerPoint Presentation</vt:lpstr>
      <vt:lpstr>Guidelines &amp; Best Practice</vt:lpstr>
      <vt:lpstr>Frequently Asked Questions (PC Users)</vt:lpstr>
      <vt:lpstr>Frequently Asked Questions (Mac Users)</vt:lpstr>
      <vt:lpstr>Frequently Asked Questions</vt:lpstr>
      <vt:lpstr>Guidelines &amp; Best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Style</vt:lpstr>
      <vt:lpstr>Chart Style</vt:lpstr>
      <vt:lpstr>Chart Style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Gildred, Terrence</dc:creator>
  <cp:keywords/>
  <dc:description>2024 Version 1
© 2024 Analog Devices, Inc. All Rights Reserved</dc:description>
  <cp:lastModifiedBy>Gildred, Terrence</cp:lastModifiedBy>
  <cp:revision>6</cp:revision>
  <cp:lastPrinted>2015-04-02T14:52:35Z</cp:lastPrinted>
  <dcterms:created xsi:type="dcterms:W3CDTF">2026-01-14T19:03:23Z</dcterms:created>
  <dcterms:modified xsi:type="dcterms:W3CDTF">2026-01-15T20:14:01Z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0x010100DAEC1CFF4750D848B193E453B794BCA3</vt:lpwstr>
  </property>
</Properties>
</file>